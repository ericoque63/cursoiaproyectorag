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AE11F1-C64F-4F59-A595-CE24FA0D533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BE5646AC-18EA-4D73-AE9B-66A9835FA1BB}">
      <dgm:prSet phldrT="[Texto]"/>
      <dgm:spPr/>
      <dgm:t>
        <a:bodyPr/>
        <a:lstStyle/>
        <a:p>
          <a:r>
            <a:rPr lang="es-ES" dirty="0" smtClean="0"/>
            <a:t>Texto</a:t>
          </a:r>
          <a:endParaRPr lang="es-ES" dirty="0"/>
        </a:p>
      </dgm:t>
    </dgm:pt>
    <dgm:pt modelId="{828D22F4-323B-41AC-A8B7-68049BC9CF59}" type="parTrans" cxnId="{A774A5ED-FD38-4C7A-8E39-C372E83D8AB2}">
      <dgm:prSet/>
      <dgm:spPr/>
      <dgm:t>
        <a:bodyPr/>
        <a:lstStyle/>
        <a:p>
          <a:endParaRPr lang="es-ES"/>
        </a:p>
      </dgm:t>
    </dgm:pt>
    <dgm:pt modelId="{7F5EFD90-8A8D-431B-8876-8CAD3635B929}" type="sibTrans" cxnId="{A774A5ED-FD38-4C7A-8E39-C372E83D8AB2}">
      <dgm:prSet/>
      <dgm:spPr/>
      <dgm:t>
        <a:bodyPr/>
        <a:lstStyle/>
        <a:p>
          <a:endParaRPr lang="es-ES"/>
        </a:p>
      </dgm:t>
    </dgm:pt>
    <dgm:pt modelId="{5990D8C6-F071-4764-87E7-DCF6D9FA4961}">
      <dgm:prSet phldrT="[Texto]"/>
      <dgm:spPr/>
      <dgm:t>
        <a:bodyPr/>
        <a:lstStyle/>
        <a:p>
          <a:r>
            <a:rPr lang="es-ES" dirty="0" smtClean="0"/>
            <a:t>Modelo GPT</a:t>
          </a:r>
          <a:endParaRPr lang="es-ES" dirty="0"/>
        </a:p>
      </dgm:t>
    </dgm:pt>
    <dgm:pt modelId="{3A736C5C-7C50-470C-9EE5-07E90C4C5CE0}" type="parTrans" cxnId="{6426A1AC-1665-4D38-8AFA-02C35099B654}">
      <dgm:prSet/>
      <dgm:spPr/>
      <dgm:t>
        <a:bodyPr/>
        <a:lstStyle/>
        <a:p>
          <a:endParaRPr lang="es-ES"/>
        </a:p>
      </dgm:t>
    </dgm:pt>
    <dgm:pt modelId="{013FF973-E1B6-4C8C-8743-E46126947896}" type="sibTrans" cxnId="{6426A1AC-1665-4D38-8AFA-02C35099B654}">
      <dgm:prSet/>
      <dgm:spPr/>
      <dgm:t>
        <a:bodyPr/>
        <a:lstStyle/>
        <a:p>
          <a:endParaRPr lang="es-ES"/>
        </a:p>
      </dgm:t>
    </dgm:pt>
    <dgm:pt modelId="{E4772D70-3FF3-4AA1-9666-3E498E4D3BD0}">
      <dgm:prSet phldrT="[Texto]"/>
      <dgm:spPr/>
      <dgm:t>
        <a:bodyPr/>
        <a:lstStyle/>
        <a:p>
          <a:r>
            <a:rPr lang="es-ES" dirty="0" smtClean="0"/>
            <a:t>Siguiente </a:t>
          </a:r>
          <a:r>
            <a:rPr lang="es-ES" dirty="0" err="1" smtClean="0"/>
            <a:t>token</a:t>
          </a:r>
          <a:endParaRPr lang="es-ES" dirty="0"/>
        </a:p>
      </dgm:t>
    </dgm:pt>
    <dgm:pt modelId="{1B129D04-E758-40D2-AB07-2B943FB79D07}" type="parTrans" cxnId="{ADDF409E-CAB5-4ABC-BC0E-E7EEB273C840}">
      <dgm:prSet/>
      <dgm:spPr/>
      <dgm:t>
        <a:bodyPr/>
        <a:lstStyle/>
        <a:p>
          <a:endParaRPr lang="es-ES"/>
        </a:p>
      </dgm:t>
    </dgm:pt>
    <dgm:pt modelId="{1814A4C1-009B-4315-9525-E7D6CCEA98AD}" type="sibTrans" cxnId="{ADDF409E-CAB5-4ABC-BC0E-E7EEB273C840}">
      <dgm:prSet/>
      <dgm:spPr/>
      <dgm:t>
        <a:bodyPr/>
        <a:lstStyle/>
        <a:p>
          <a:endParaRPr lang="es-ES"/>
        </a:p>
      </dgm:t>
    </dgm:pt>
    <dgm:pt modelId="{BB77FCCC-0805-49B0-ACEF-047EB42CB1DF}" type="pres">
      <dgm:prSet presAssocID="{91AE11F1-C64F-4F59-A595-CE24FA0D533A}" presName="Name0" presStyleCnt="0">
        <dgm:presLayoutVars>
          <dgm:dir/>
          <dgm:resizeHandles val="exact"/>
        </dgm:presLayoutVars>
      </dgm:prSet>
      <dgm:spPr/>
    </dgm:pt>
    <dgm:pt modelId="{9871E8B9-5DCE-42E5-8A83-EA3BF77293CE}" type="pres">
      <dgm:prSet presAssocID="{BE5646AC-18EA-4D73-AE9B-66A9835FA1B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6856194-B006-4890-A688-52FD9A62ECCB}" type="pres">
      <dgm:prSet presAssocID="{7F5EFD90-8A8D-431B-8876-8CAD3635B929}" presName="sibTrans" presStyleLbl="sibTrans2D1" presStyleIdx="0" presStyleCnt="2"/>
      <dgm:spPr/>
      <dgm:t>
        <a:bodyPr/>
        <a:lstStyle/>
        <a:p>
          <a:endParaRPr lang="es-ES"/>
        </a:p>
      </dgm:t>
    </dgm:pt>
    <dgm:pt modelId="{6C2F17CB-4201-4B10-87B2-972CDA3A5078}" type="pres">
      <dgm:prSet presAssocID="{7F5EFD90-8A8D-431B-8876-8CAD3635B929}" presName="connectorText" presStyleLbl="sibTrans2D1" presStyleIdx="0" presStyleCnt="2"/>
      <dgm:spPr/>
      <dgm:t>
        <a:bodyPr/>
        <a:lstStyle/>
        <a:p>
          <a:endParaRPr lang="es-ES"/>
        </a:p>
      </dgm:t>
    </dgm:pt>
    <dgm:pt modelId="{A5788802-D12C-4CC6-A4D8-513B5F3E275E}" type="pres">
      <dgm:prSet presAssocID="{5990D8C6-F071-4764-87E7-DCF6D9FA496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053E566-2E1F-4344-855E-F4AC7D08D21E}" type="pres">
      <dgm:prSet presAssocID="{013FF973-E1B6-4C8C-8743-E46126947896}" presName="sibTrans" presStyleLbl="sibTrans2D1" presStyleIdx="1" presStyleCnt="2"/>
      <dgm:spPr/>
      <dgm:t>
        <a:bodyPr/>
        <a:lstStyle/>
        <a:p>
          <a:endParaRPr lang="es-ES"/>
        </a:p>
      </dgm:t>
    </dgm:pt>
    <dgm:pt modelId="{6974EB29-CE66-4251-965C-961E143BD78B}" type="pres">
      <dgm:prSet presAssocID="{013FF973-E1B6-4C8C-8743-E46126947896}" presName="connectorText" presStyleLbl="sibTrans2D1" presStyleIdx="1" presStyleCnt="2"/>
      <dgm:spPr/>
      <dgm:t>
        <a:bodyPr/>
        <a:lstStyle/>
        <a:p>
          <a:endParaRPr lang="es-ES"/>
        </a:p>
      </dgm:t>
    </dgm:pt>
    <dgm:pt modelId="{BD9E3632-4B07-47FA-ABCE-B0EC5451394A}" type="pres">
      <dgm:prSet presAssocID="{E4772D70-3FF3-4AA1-9666-3E498E4D3BD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46F7206-5F43-4042-9FD0-EC133FD05E3D}" type="presOf" srcId="{E4772D70-3FF3-4AA1-9666-3E498E4D3BD0}" destId="{BD9E3632-4B07-47FA-ABCE-B0EC5451394A}" srcOrd="0" destOrd="0" presId="urn:microsoft.com/office/officeart/2005/8/layout/process1"/>
    <dgm:cxn modelId="{AC4EE605-4BE9-4766-9538-2F6C79EA1A78}" type="presOf" srcId="{5990D8C6-F071-4764-87E7-DCF6D9FA4961}" destId="{A5788802-D12C-4CC6-A4D8-513B5F3E275E}" srcOrd="0" destOrd="0" presId="urn:microsoft.com/office/officeart/2005/8/layout/process1"/>
    <dgm:cxn modelId="{F47FFD2C-7FDF-477E-A25C-19B00003FFA4}" type="presOf" srcId="{013FF973-E1B6-4C8C-8743-E46126947896}" destId="{6974EB29-CE66-4251-965C-961E143BD78B}" srcOrd="1" destOrd="0" presId="urn:microsoft.com/office/officeart/2005/8/layout/process1"/>
    <dgm:cxn modelId="{ABE99E3D-5ED1-4113-8BA7-90F6F11365CC}" type="presOf" srcId="{BE5646AC-18EA-4D73-AE9B-66A9835FA1BB}" destId="{9871E8B9-5DCE-42E5-8A83-EA3BF77293CE}" srcOrd="0" destOrd="0" presId="urn:microsoft.com/office/officeart/2005/8/layout/process1"/>
    <dgm:cxn modelId="{B0221155-B83F-49E8-8446-4B9A85E178DF}" type="presOf" srcId="{7F5EFD90-8A8D-431B-8876-8CAD3635B929}" destId="{6C2F17CB-4201-4B10-87B2-972CDA3A5078}" srcOrd="1" destOrd="0" presId="urn:microsoft.com/office/officeart/2005/8/layout/process1"/>
    <dgm:cxn modelId="{7575C38E-3416-4EC2-AAD3-14DCF6D6FF50}" type="presOf" srcId="{91AE11F1-C64F-4F59-A595-CE24FA0D533A}" destId="{BB77FCCC-0805-49B0-ACEF-047EB42CB1DF}" srcOrd="0" destOrd="0" presId="urn:microsoft.com/office/officeart/2005/8/layout/process1"/>
    <dgm:cxn modelId="{371E7E35-6576-4973-BBC4-CBC9375A62EF}" type="presOf" srcId="{013FF973-E1B6-4C8C-8743-E46126947896}" destId="{7053E566-2E1F-4344-855E-F4AC7D08D21E}" srcOrd="0" destOrd="0" presId="urn:microsoft.com/office/officeart/2005/8/layout/process1"/>
    <dgm:cxn modelId="{6426A1AC-1665-4D38-8AFA-02C35099B654}" srcId="{91AE11F1-C64F-4F59-A595-CE24FA0D533A}" destId="{5990D8C6-F071-4764-87E7-DCF6D9FA4961}" srcOrd="1" destOrd="0" parTransId="{3A736C5C-7C50-470C-9EE5-07E90C4C5CE0}" sibTransId="{013FF973-E1B6-4C8C-8743-E46126947896}"/>
    <dgm:cxn modelId="{A774A5ED-FD38-4C7A-8E39-C372E83D8AB2}" srcId="{91AE11F1-C64F-4F59-A595-CE24FA0D533A}" destId="{BE5646AC-18EA-4D73-AE9B-66A9835FA1BB}" srcOrd="0" destOrd="0" parTransId="{828D22F4-323B-41AC-A8B7-68049BC9CF59}" sibTransId="{7F5EFD90-8A8D-431B-8876-8CAD3635B929}"/>
    <dgm:cxn modelId="{446D0590-0B4A-46D2-B955-9EF86E57C2F0}" type="presOf" srcId="{7F5EFD90-8A8D-431B-8876-8CAD3635B929}" destId="{46856194-B006-4890-A688-52FD9A62ECCB}" srcOrd="0" destOrd="0" presId="urn:microsoft.com/office/officeart/2005/8/layout/process1"/>
    <dgm:cxn modelId="{ADDF409E-CAB5-4ABC-BC0E-E7EEB273C840}" srcId="{91AE11F1-C64F-4F59-A595-CE24FA0D533A}" destId="{E4772D70-3FF3-4AA1-9666-3E498E4D3BD0}" srcOrd="2" destOrd="0" parTransId="{1B129D04-E758-40D2-AB07-2B943FB79D07}" sibTransId="{1814A4C1-009B-4315-9525-E7D6CCEA98AD}"/>
    <dgm:cxn modelId="{35A07714-CAF5-4E6C-ABEC-2638AFC70042}" type="presParOf" srcId="{BB77FCCC-0805-49B0-ACEF-047EB42CB1DF}" destId="{9871E8B9-5DCE-42E5-8A83-EA3BF77293CE}" srcOrd="0" destOrd="0" presId="urn:microsoft.com/office/officeart/2005/8/layout/process1"/>
    <dgm:cxn modelId="{4E9BCCDB-5398-48D0-B27F-7E13CD7D586F}" type="presParOf" srcId="{BB77FCCC-0805-49B0-ACEF-047EB42CB1DF}" destId="{46856194-B006-4890-A688-52FD9A62ECCB}" srcOrd="1" destOrd="0" presId="urn:microsoft.com/office/officeart/2005/8/layout/process1"/>
    <dgm:cxn modelId="{A7AF2B95-33E6-4DB9-B752-4A4FCF5C9035}" type="presParOf" srcId="{46856194-B006-4890-A688-52FD9A62ECCB}" destId="{6C2F17CB-4201-4B10-87B2-972CDA3A5078}" srcOrd="0" destOrd="0" presId="urn:microsoft.com/office/officeart/2005/8/layout/process1"/>
    <dgm:cxn modelId="{BD3C1323-2AE3-4B31-BD5A-D0F2BA71580E}" type="presParOf" srcId="{BB77FCCC-0805-49B0-ACEF-047EB42CB1DF}" destId="{A5788802-D12C-4CC6-A4D8-513B5F3E275E}" srcOrd="2" destOrd="0" presId="urn:microsoft.com/office/officeart/2005/8/layout/process1"/>
    <dgm:cxn modelId="{3D060C65-1D81-42A2-A91A-7567CDBBB991}" type="presParOf" srcId="{BB77FCCC-0805-49B0-ACEF-047EB42CB1DF}" destId="{7053E566-2E1F-4344-855E-F4AC7D08D21E}" srcOrd="3" destOrd="0" presId="urn:microsoft.com/office/officeart/2005/8/layout/process1"/>
    <dgm:cxn modelId="{2776DD02-CE01-49BD-83C2-55DA3074111B}" type="presParOf" srcId="{7053E566-2E1F-4344-855E-F4AC7D08D21E}" destId="{6974EB29-CE66-4251-965C-961E143BD78B}" srcOrd="0" destOrd="0" presId="urn:microsoft.com/office/officeart/2005/8/layout/process1"/>
    <dgm:cxn modelId="{515F5A14-523E-4DF1-875E-042270DE6593}" type="presParOf" srcId="{BB77FCCC-0805-49B0-ACEF-047EB42CB1DF}" destId="{BD9E3632-4B07-47FA-ABCE-B0EC5451394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1E8B9-5DCE-42E5-8A83-EA3BF77293CE}">
      <dsp:nvSpPr>
        <dsp:cNvPr id="0" name=""/>
        <dsp:cNvSpPr/>
      </dsp:nvSpPr>
      <dsp:spPr>
        <a:xfrm>
          <a:off x="5298" y="0"/>
          <a:ext cx="1583597" cy="678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Texto</a:t>
          </a:r>
          <a:endParaRPr lang="es-ES" sz="1700" kern="1200" dirty="0"/>
        </a:p>
      </dsp:txBody>
      <dsp:txXfrm>
        <a:off x="25167" y="19869"/>
        <a:ext cx="1543859" cy="638634"/>
      </dsp:txXfrm>
    </dsp:sp>
    <dsp:sp modelId="{46856194-B006-4890-A688-52FD9A62ECCB}">
      <dsp:nvSpPr>
        <dsp:cNvPr id="0" name=""/>
        <dsp:cNvSpPr/>
      </dsp:nvSpPr>
      <dsp:spPr>
        <a:xfrm>
          <a:off x="1747255" y="142819"/>
          <a:ext cx="335722" cy="392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kern="1200"/>
        </a:p>
      </dsp:txBody>
      <dsp:txXfrm>
        <a:off x="1747255" y="221365"/>
        <a:ext cx="235005" cy="235640"/>
      </dsp:txXfrm>
    </dsp:sp>
    <dsp:sp modelId="{A5788802-D12C-4CC6-A4D8-513B5F3E275E}">
      <dsp:nvSpPr>
        <dsp:cNvPr id="0" name=""/>
        <dsp:cNvSpPr/>
      </dsp:nvSpPr>
      <dsp:spPr>
        <a:xfrm>
          <a:off x="2222334" y="0"/>
          <a:ext cx="1583597" cy="678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Modelo GPT</a:t>
          </a:r>
          <a:endParaRPr lang="es-ES" sz="1700" kern="1200" dirty="0"/>
        </a:p>
      </dsp:txBody>
      <dsp:txXfrm>
        <a:off x="2242203" y="19869"/>
        <a:ext cx="1543859" cy="638634"/>
      </dsp:txXfrm>
    </dsp:sp>
    <dsp:sp modelId="{7053E566-2E1F-4344-855E-F4AC7D08D21E}">
      <dsp:nvSpPr>
        <dsp:cNvPr id="0" name=""/>
        <dsp:cNvSpPr/>
      </dsp:nvSpPr>
      <dsp:spPr>
        <a:xfrm>
          <a:off x="3964291" y="142819"/>
          <a:ext cx="335722" cy="392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400" kern="1200"/>
        </a:p>
      </dsp:txBody>
      <dsp:txXfrm>
        <a:off x="3964291" y="221365"/>
        <a:ext cx="235005" cy="235640"/>
      </dsp:txXfrm>
    </dsp:sp>
    <dsp:sp modelId="{BD9E3632-4B07-47FA-ABCE-B0EC5451394A}">
      <dsp:nvSpPr>
        <dsp:cNvPr id="0" name=""/>
        <dsp:cNvSpPr/>
      </dsp:nvSpPr>
      <dsp:spPr>
        <a:xfrm>
          <a:off x="4439371" y="0"/>
          <a:ext cx="1583597" cy="678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Siguiente </a:t>
          </a:r>
          <a:r>
            <a:rPr lang="es-ES" sz="1700" kern="1200" dirty="0" err="1" smtClean="0"/>
            <a:t>token</a:t>
          </a:r>
          <a:endParaRPr lang="es-ES" sz="1700" kern="1200" dirty="0"/>
        </a:p>
      </dsp:txBody>
      <dsp:txXfrm>
        <a:off x="4459240" y="19869"/>
        <a:ext cx="1543859" cy="638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580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321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927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485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722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12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006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364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173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260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5153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0808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2527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7644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3668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2938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886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92DB337-40CE-474D-B23B-14493CBCE50A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P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37577E2-66E0-4A55-ACB7-59A3E547B1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970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 smtClean="0"/>
              <a:t>Foundation</a:t>
            </a:r>
            <a:r>
              <a:rPr lang="es-PE" dirty="0" smtClean="0"/>
              <a:t> </a:t>
            </a:r>
            <a:r>
              <a:rPr lang="es-PE" dirty="0" err="1" smtClean="0"/>
              <a:t>Models</a:t>
            </a:r>
            <a:r>
              <a:rPr lang="es-PE" dirty="0"/>
              <a:t/>
            </a:r>
            <a:br>
              <a:rPr lang="es-PE" dirty="0"/>
            </a:br>
            <a:r>
              <a:rPr lang="es-PE" dirty="0"/>
              <a:t>GPT (</a:t>
            </a:r>
            <a:r>
              <a:rPr lang="es-PE" dirty="0" err="1"/>
              <a:t>OpenAI</a:t>
            </a:r>
            <a:r>
              <a:rPr lang="es-PE" dirty="0"/>
              <a:t>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(</a:t>
            </a:r>
            <a:r>
              <a:rPr lang="es-ES" dirty="0" err="1" smtClean="0"/>
              <a:t>Generative</a:t>
            </a:r>
            <a:r>
              <a:rPr lang="es-ES" dirty="0" smtClean="0"/>
              <a:t> pre-</a:t>
            </a:r>
            <a:r>
              <a:rPr lang="es-ES" dirty="0" err="1" smtClean="0"/>
              <a:t>trained</a:t>
            </a:r>
            <a:r>
              <a:rPr lang="es-ES" dirty="0" smtClean="0"/>
              <a:t> </a:t>
            </a:r>
            <a:r>
              <a:rPr lang="es-ES" dirty="0" err="1" smtClean="0"/>
              <a:t>transformer</a:t>
            </a:r>
            <a:r>
              <a:rPr lang="es-ES" dirty="0" smtClean="0"/>
              <a:t>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4932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GPT (</a:t>
            </a:r>
            <a:r>
              <a:rPr lang="es-PE" dirty="0" err="1"/>
              <a:t>Generative</a:t>
            </a:r>
            <a:r>
              <a:rPr lang="es-PE" dirty="0"/>
              <a:t> Pre‑</a:t>
            </a:r>
            <a:r>
              <a:rPr lang="es-PE" dirty="0" err="1"/>
              <a:t>trained</a:t>
            </a:r>
            <a:r>
              <a:rPr lang="es-PE" dirty="0"/>
              <a:t> </a:t>
            </a:r>
            <a:r>
              <a:rPr lang="es-PE" dirty="0" err="1" smtClean="0"/>
              <a:t>Transformer</a:t>
            </a:r>
            <a:r>
              <a:rPr lang="es-ES" dirty="0" smtClean="0"/>
              <a:t>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11199" y="2803214"/>
            <a:ext cx="9939867" cy="2946399"/>
          </a:xfrm>
        </p:spPr>
        <p:txBody>
          <a:bodyPr>
            <a:normAutofit/>
          </a:bodyPr>
          <a:lstStyle/>
          <a:p>
            <a:r>
              <a:rPr lang="es-ES" dirty="0" smtClean="0"/>
              <a:t>Es una familia de </a:t>
            </a:r>
            <a:r>
              <a:rPr lang="es-ES" b="1" dirty="0" smtClean="0"/>
              <a:t>modelos de lenguaje grande (LLM) </a:t>
            </a:r>
            <a:r>
              <a:rPr lang="es-ES" dirty="0" smtClean="0"/>
              <a:t>basado en inteligencia artificial que genera </a:t>
            </a:r>
            <a:r>
              <a:rPr lang="es-ES" b="1" dirty="0" smtClean="0"/>
              <a:t>texto</a:t>
            </a:r>
            <a:r>
              <a:rPr lang="es-ES" dirty="0" smtClean="0"/>
              <a:t>, </a:t>
            </a:r>
            <a:r>
              <a:rPr lang="es-ES" b="1" dirty="0" smtClean="0"/>
              <a:t>código</a:t>
            </a:r>
            <a:r>
              <a:rPr lang="es-ES" dirty="0" smtClean="0"/>
              <a:t>, </a:t>
            </a:r>
            <a:r>
              <a:rPr lang="es-ES" b="1" dirty="0" smtClean="0"/>
              <a:t>imágenes</a:t>
            </a:r>
            <a:r>
              <a:rPr lang="es-ES" dirty="0" smtClean="0"/>
              <a:t> y analiza datos de manera similar a un huma.</a:t>
            </a:r>
          </a:p>
          <a:p>
            <a:r>
              <a:rPr lang="es-ES" dirty="0" smtClean="0"/>
              <a:t>Es </a:t>
            </a:r>
            <a:r>
              <a:rPr lang="es-ES" dirty="0"/>
              <a:t>un modelo de lenguaje grande </a:t>
            </a:r>
            <a:r>
              <a:rPr lang="es-ES" b="1" dirty="0"/>
              <a:t>entrenado</a:t>
            </a:r>
            <a:r>
              <a:rPr lang="es-ES" dirty="0"/>
              <a:t> con </a:t>
            </a:r>
            <a:r>
              <a:rPr lang="es-ES" b="1" dirty="0"/>
              <a:t>enormes cantidades </a:t>
            </a:r>
            <a:r>
              <a:rPr lang="es-ES" dirty="0"/>
              <a:t>de texto.
Está basado en </a:t>
            </a:r>
            <a:r>
              <a:rPr lang="es-ES" b="1" dirty="0"/>
              <a:t>redes neuronales tipo </a:t>
            </a:r>
            <a:r>
              <a:rPr lang="es-ES" b="1" dirty="0" err="1"/>
              <a:t>Transformer</a:t>
            </a:r>
            <a:r>
              <a:rPr lang="es-ES" b="1" dirty="0" smtClean="0"/>
              <a:t>.</a:t>
            </a:r>
          </a:p>
          <a:p>
            <a:r>
              <a:rPr lang="es-ES" dirty="0" smtClean="0"/>
              <a:t>Fue desarrollado por </a:t>
            </a:r>
            <a:r>
              <a:rPr lang="es-ES" dirty="0" err="1" smtClean="0"/>
              <a:t>OpenAI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225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Como funciona GPT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5" y="2603500"/>
            <a:ext cx="3617132" cy="3306233"/>
          </a:xfrm>
        </p:spPr>
        <p:txBody>
          <a:bodyPr/>
          <a:lstStyle/>
          <a:p>
            <a:r>
              <a:rPr lang="es-ES" dirty="0"/>
              <a:t>El modelo recibe un </a:t>
            </a:r>
            <a:r>
              <a:rPr lang="es-ES" b="1" dirty="0"/>
              <a:t>texto</a:t>
            </a:r>
            <a:r>
              <a:rPr lang="es-ES" dirty="0"/>
              <a:t> </a:t>
            </a:r>
            <a:r>
              <a:rPr lang="es-ES" b="1" dirty="0"/>
              <a:t>de entrada </a:t>
            </a:r>
            <a:r>
              <a:rPr lang="es-ES" dirty="0"/>
              <a:t>y predice el siguiente </a:t>
            </a:r>
            <a:r>
              <a:rPr lang="es-ES" dirty="0" err="1" smtClean="0"/>
              <a:t>token</a:t>
            </a:r>
            <a:r>
              <a:rPr lang="es-ES" dirty="0" smtClean="0"/>
              <a:t> (fragmento </a:t>
            </a:r>
            <a:r>
              <a:rPr lang="es-ES" dirty="0"/>
              <a:t>de palabra) con mayor </a:t>
            </a:r>
            <a:r>
              <a:rPr lang="es-ES" b="1" dirty="0"/>
              <a:t>probabilidad</a:t>
            </a:r>
            <a:r>
              <a:rPr lang="es-ES" dirty="0"/>
              <a:t> según el contexto.</a:t>
            </a:r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838864059"/>
              </p:ext>
            </p:extLst>
          </p:nvPr>
        </p:nvGraphicFramePr>
        <p:xfrm>
          <a:off x="5181599" y="5692795"/>
          <a:ext cx="6028267" cy="678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Transformers explicados fácil: la base de la comprensión en 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133" y="2292537"/>
            <a:ext cx="4538132" cy="302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25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Entrenamiento del modelo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4" y="2611664"/>
            <a:ext cx="9181032" cy="3611033"/>
          </a:xfrm>
        </p:spPr>
        <p:txBody>
          <a:bodyPr>
            <a:normAutofit/>
          </a:bodyPr>
          <a:lstStyle/>
          <a:p>
            <a:r>
              <a:rPr lang="es-ES" dirty="0"/>
              <a:t>GPT se entrena con </a:t>
            </a:r>
            <a:r>
              <a:rPr lang="es-ES" b="1" dirty="0"/>
              <a:t>grandes cantidades de texto disponibles públicamente</a:t>
            </a:r>
            <a:r>
              <a:rPr lang="es-ES" dirty="0"/>
              <a:t>, como libros, artículos y código</a:t>
            </a:r>
            <a:r>
              <a:rPr lang="es-ES" dirty="0" smtClean="0"/>
              <a:t>.</a:t>
            </a:r>
          </a:p>
          <a:p>
            <a:r>
              <a:rPr lang="es-ES" dirty="0" smtClean="0"/>
              <a:t>Durante </a:t>
            </a:r>
            <a:r>
              <a:rPr lang="es-ES" dirty="0"/>
              <a:t>el entrenamiento aprende </a:t>
            </a:r>
            <a:r>
              <a:rPr lang="es-ES" b="1" dirty="0"/>
              <a:t>patrones del lenguaje</a:t>
            </a:r>
            <a:r>
              <a:rPr lang="es-ES" dirty="0"/>
              <a:t> y relaciones entre palabras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Utiliza </a:t>
            </a:r>
            <a:r>
              <a:rPr lang="es-ES" b="1" dirty="0"/>
              <a:t>aprendizaje profundo </a:t>
            </a:r>
            <a:r>
              <a:rPr lang="es-ES" dirty="0"/>
              <a:t>para analizar el contexto y predecir la palabra más probable en una frase</a:t>
            </a:r>
            <a:r>
              <a:rPr lang="es-ES" dirty="0" smtClean="0"/>
              <a:t>.</a:t>
            </a:r>
          </a:p>
          <a:p>
            <a:r>
              <a:rPr lang="es-ES" dirty="0" smtClean="0"/>
              <a:t>Este </a:t>
            </a:r>
            <a:r>
              <a:rPr lang="es-ES" dirty="0"/>
              <a:t>proceso se llama </a:t>
            </a:r>
            <a:r>
              <a:rPr lang="es-ES" b="1" dirty="0" err="1"/>
              <a:t>preentrenamiento</a:t>
            </a:r>
            <a:r>
              <a:rPr lang="es-ES" dirty="0"/>
              <a:t> </a:t>
            </a:r>
            <a:r>
              <a:rPr lang="es-ES" b="1" dirty="0"/>
              <a:t>generativo</a:t>
            </a:r>
            <a:r>
              <a:rPr lang="es-ES" dirty="0"/>
              <a:t>, donde el modelo aprende a partir de datos sin etiquetar</a:t>
            </a:r>
            <a:r>
              <a:rPr lang="es-ES" dirty="0" smtClean="0"/>
              <a:t>.</a:t>
            </a:r>
          </a:p>
          <a:p>
            <a:r>
              <a:rPr lang="es-ES" dirty="0"/>
              <a:t>Los modelos GPT tienen </a:t>
            </a:r>
            <a:r>
              <a:rPr lang="es-ES" b="1" dirty="0"/>
              <a:t>miles de millones o billones de parámetros</a:t>
            </a:r>
            <a:r>
              <a:rPr lang="es-ES" dirty="0"/>
              <a:t> que se ajustan durante el entrenamiento.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8381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Aplicaciones de GPT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2422" y="2484967"/>
            <a:ext cx="6820646" cy="2679700"/>
          </a:xfrm>
        </p:spPr>
        <p:txBody>
          <a:bodyPr/>
          <a:lstStyle/>
          <a:p>
            <a:r>
              <a:rPr lang="es-ES" dirty="0" err="1" smtClean="0"/>
              <a:t>Chatbots</a:t>
            </a:r>
            <a:r>
              <a:rPr lang="es-ES" dirty="0" smtClean="0"/>
              <a:t>, generación de contenido, análisis de texto,
Resumen de documentos y apoyo a analistas de datos.</a:t>
            </a:r>
          </a:p>
          <a:p>
            <a:r>
              <a:rPr lang="es-ES" dirty="0"/>
              <a:t>Aplicaciones en </a:t>
            </a:r>
            <a:r>
              <a:rPr lang="es-ES" dirty="0" err="1" smtClean="0"/>
              <a:t>microfinanzas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Generación </a:t>
            </a:r>
            <a:r>
              <a:rPr lang="es-ES" dirty="0"/>
              <a:t>automática de reportes.
Resumen de evaluaciones crediticias.
Asistentes para analistas de datos.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693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Limitaciones e impacto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Puede generar errores (alucinaciones</a:t>
            </a:r>
            <a:r>
              <a:rPr lang="es-ES" dirty="0" smtClean="0"/>
              <a:t>). Dado que el modelo predice palabras basándose en patrones, no porque verifique hechos. </a:t>
            </a:r>
          </a:p>
          <a:p>
            <a:r>
              <a:rPr lang="es-ES" dirty="0" smtClean="0"/>
              <a:t>Sesgos en los datos, si los datos contienen sesgos culturales o sociales el modelo puede reproducirlos.</a:t>
            </a:r>
            <a:r>
              <a:rPr lang="es-ES" dirty="0"/>
              <a:t>
Alto costo </a:t>
            </a:r>
            <a:r>
              <a:rPr lang="es-ES" dirty="0" smtClean="0"/>
              <a:t>computacional, requiere supercomputadores y </a:t>
            </a:r>
            <a:r>
              <a:rPr lang="es-ES" dirty="0" err="1" smtClean="0"/>
              <a:t>GPUs</a:t>
            </a:r>
            <a:r>
              <a:rPr lang="es-ES" dirty="0" smtClean="0"/>
              <a:t> especializadas. Millones de dólares en infraestructura y grandes centros de datos.</a:t>
            </a:r>
          </a:p>
          <a:p>
            <a:r>
              <a:rPr lang="es-ES" dirty="0" smtClean="0"/>
              <a:t>Impacto ambiental. Centro de datos operando continuamente, alto </a:t>
            </a:r>
            <a:r>
              <a:rPr lang="es-ES" dirty="0" err="1" smtClean="0"/>
              <a:t>onsumo</a:t>
            </a:r>
            <a:r>
              <a:rPr lang="es-ES" dirty="0" smtClean="0"/>
              <a:t> eléctrico, y emisiones de CO2 asociadas a l </a:t>
            </a:r>
            <a:r>
              <a:rPr lang="es-ES" dirty="0" err="1" smtClean="0"/>
              <a:t>ainfraestrucutra</a:t>
            </a:r>
            <a:r>
              <a:rPr lang="es-ES" dirty="0" smtClean="0"/>
              <a:t> </a:t>
            </a:r>
            <a:r>
              <a:rPr lang="es-ES" dirty="0" err="1" smtClean="0"/>
              <a:t>teconologica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355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96</TotalTime>
  <Words>231</Words>
  <Application>Microsoft Office PowerPoint</Application>
  <PresentationFormat>Panorámica</PresentationFormat>
  <Paragraphs>25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Sala de reuniones Ion</vt:lpstr>
      <vt:lpstr>Foundation Models GPT (OpenAI)</vt:lpstr>
      <vt:lpstr>GPT (Generative Pre‑trained Transformer)</vt:lpstr>
      <vt:lpstr>Como funciona GPT</vt:lpstr>
      <vt:lpstr>Entrenamiento del modelo</vt:lpstr>
      <vt:lpstr>Aplicaciones de GPT</vt:lpstr>
      <vt:lpstr>Limitaciones e impacto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GPT (OpenAI)</dc:title>
  <dc:creator>Condorcallo Quequejana, Elisa Rina (ERCQ)</dc:creator>
  <cp:lastModifiedBy>Condorcallo Quequejana, Elisa Rina (ERCQ)</cp:lastModifiedBy>
  <cp:revision>7</cp:revision>
  <dcterms:created xsi:type="dcterms:W3CDTF">2026-03-10T03:55:56Z</dcterms:created>
  <dcterms:modified xsi:type="dcterms:W3CDTF">2026-03-12T00:55:09Z</dcterms:modified>
</cp:coreProperties>
</file>